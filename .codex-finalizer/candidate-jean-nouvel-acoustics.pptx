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373d49cc164ee4" /><Relationship Type="http://schemas.openxmlformats.org/officeDocument/2006/relationships/extended-properties" Target="/docProps/app.xml" Id="R97264c6fb0b74c1c" /><Relationship Type="http://schemas.openxmlformats.org/officeDocument/2006/relationships/officeDocument" Target="/ppt/presentation.xml" Id="Ra4a3d7fa9ce046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70808019c94ce9"/>
  </p:sldMasterIdLst>
  <p:notesMasterIdLst>
    <p:notesMasterId xmlns:r="http://schemas.openxmlformats.org/officeDocument/2006/relationships" r:id="Re36e9bfbc23d40c9"/>
  </p:notesMasterIdLst>
  <p:sldIdLst>
    <p:sldId xmlns:r="http://schemas.openxmlformats.org/officeDocument/2006/relationships" id="256" r:id="Rf419a24d580e4f3d"/>
    <p:sldId xmlns:r="http://schemas.openxmlformats.org/officeDocument/2006/relationships" id="257" r:id="Rd3e6cb10efac403d"/>
    <p:sldId xmlns:r="http://schemas.openxmlformats.org/officeDocument/2006/relationships" id="258" r:id="R01e9e7fbe6e745ed"/>
    <p:sldId xmlns:r="http://schemas.openxmlformats.org/officeDocument/2006/relationships" id="259" r:id="R3b66b13d971e4c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969043d6f54c36" /><Relationship Type="http://schemas.openxmlformats.org/officeDocument/2006/relationships/slideMaster" Target="/ppt/slideMasters/slideMaster1.xml" Id="Rc170808019c94ce9" /><Relationship Type="http://schemas.openxmlformats.org/officeDocument/2006/relationships/notesMaster" Target="/ppt/notesMasters/notesMaster1.xml" Id="Re36e9bfbc23d40c9" /><Relationship Type="http://schemas.openxmlformats.org/officeDocument/2006/relationships/presProps" Target="/ppt/presProps.xml" Id="R96cb576f9ac144b3" /><Relationship Type="http://schemas.openxmlformats.org/officeDocument/2006/relationships/tableStyles" Target="/ppt/tableStyles.xml" Id="R38a1422609cd4596" /><Relationship Type="http://schemas.openxmlformats.org/officeDocument/2006/relationships/slide" Target="/ppt/slides/slide1.xml" Id="Rf419a24d580e4f3d" /><Relationship Type="http://schemas.openxmlformats.org/officeDocument/2006/relationships/slide" Target="/ppt/slides/slide2.xml" Id="Rd3e6cb10efac403d" /><Relationship Type="http://schemas.openxmlformats.org/officeDocument/2006/relationships/slide" Target="/ppt/slides/slide3.xml" Id="R01e9e7fbe6e745ed" /><Relationship Type="http://schemas.openxmlformats.org/officeDocument/2006/relationships/slide" Target="/ppt/slides/slide4.xml" Id="R3b66b13d971e4c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57faf4c7a442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57d8749274f18" /><Relationship Type="http://schemas.openxmlformats.org/officeDocument/2006/relationships/notesMaster" Target="/ppt/notesMasters/notesMaster1.xml" Id="Ree7807f38b964b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351227f0ab4a06" /><Relationship Type="http://schemas.openxmlformats.org/officeDocument/2006/relationships/notesMaster" Target="/ppt/notesMasters/notesMaster1.xml" Id="R4bb55dd5029440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48a87b47ae44b6" /><Relationship Type="http://schemas.openxmlformats.org/officeDocument/2006/relationships/notesMaster" Target="/ppt/notesMasters/notesMaster1.xml" Id="Rea58aef38fcf44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9627d5a4db42b5" /><Relationship Type="http://schemas.openxmlformats.org/officeDocument/2006/relationships/notesMaster" Target="/ppt/notesMasters/notesMaster1.xml" Id="R778eebaeaac546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</a:t>
            </a:r>
          </a:p>
          <a:p xmlns:a="http://schemas.openxmlformats.org/drawingml/2006/main">
            <a:r>
              <a:t>https://www.kkl-luzern.ch/en/about-us/architecture-acoustics</a:t>
            </a:r>
          </a:p>
          <a:p xmlns:a="http://schemas.openxmlformats.org/drawingml/2006/main">
            <a:r>
              <a:t>https://www.jeannouvel.com/en/projects/centre-de-culture-et-des-congres/</a:t>
            </a:r>
          </a:p>
          <a:p xmlns:a="http://schemas.openxmlformats.org/drawingml/2006/main">
            <a:r>
              <a:t>图片来源：KKL Luzern，https://business.kkl-luzern.ch/en/venues/concert-hall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</a:t>
            </a:r>
          </a:p>
          <a:p xmlns:a="http://schemas.openxmlformats.org/drawingml/2006/main">
            <a:r>
              <a:t>https://www.nagata-i.com/portfolio/danish-radio-concert-hall/</a:t>
            </a:r>
          </a:p>
          <a:p xmlns:a="http://schemas.openxmlformats.org/drawingml/2006/main">
            <a:r>
              <a:t>https://www.acoustics.asn.au/conference_proceedings/ICA2010/cdrom-ISRA2010/Papers/P3e.pdf</a:t>
            </a:r>
          </a:p>
          <a:p xmlns:a="http://schemas.openxmlformats.org/drawingml/2006/main">
            <a:r>
              <a:t>图片来源：DR Koncerthuset，https://billet.drkoncerthuset.dk/venue/koncertsalen/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</a:t>
            </a:r>
          </a:p>
          <a:p xmlns:a="http://schemas.openxmlformats.org/drawingml/2006/main">
            <a:r>
              <a:t>https://philharmoniedeparis.fr/en/discover/philharmonie</a:t>
            </a:r>
          </a:p>
          <a:p xmlns:a="http://schemas.openxmlformats.org/drawingml/2006/main">
            <a:r>
              <a:t>https://marshallday.squarespace.com/news-posts/eeting-of-minds-philharmonie-de-paris</a:t>
            </a:r>
          </a:p>
          <a:p xmlns:a="http://schemas.openxmlformats.org/drawingml/2006/main">
            <a:r>
              <a:t>图片来源：Architectural Record，https://www.architecturalrecord.com/articles/11660-philharmonie-de-paris-grande-salle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比较依据：前三页所列项目官方资料与声学顾问资料。</a:t>
            </a:r>
          </a:p>
          <a:p xmlns:a="http://schemas.openxmlformats.org/drawingml/2006/main">
            <a:r>
              <a:t>https://www.kkl-luzern.ch/en/about-us/architecture-acoustics</a:t>
            </a:r>
          </a:p>
          <a:p xmlns:a="http://schemas.openxmlformats.org/drawingml/2006/main">
            <a:r>
              <a:t>https://www.nagata-i.com/portfolio/danish-radio-concert-hall/</a:t>
            </a:r>
          </a:p>
          <a:p xmlns:a="http://schemas.openxmlformats.org/drawingml/2006/main">
            <a:r>
              <a:t>https://philharmoniedeparis.fr/en/discover/philharmonie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cf6c2f23047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3985bb2c5a4c9f" /><Relationship Type="http://schemas.openxmlformats.org/officeDocument/2006/relationships/slideLayout" Target="/ppt/slideLayouts/slideLayout1.xml" Id="R728f61bf043447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8f61bf043447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b291f6c724cb2" /><Relationship Type="http://schemas.openxmlformats.org/officeDocument/2006/relationships/image" Target="/ppt/media/image.jpeg" Id="R0d9b8723351f43c2" /><Relationship Type="http://schemas.openxmlformats.org/officeDocument/2006/relationships/notesSlide" Target="/ppt/notesSlides/notesSlide1.xml" Id="R432efaaaea2048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52704e7d644e7" /><Relationship Type="http://schemas.openxmlformats.org/officeDocument/2006/relationships/image" Target="/ppt/media/image2.jpeg" Id="R92edcc38feb249ba" /><Relationship Type="http://schemas.openxmlformats.org/officeDocument/2006/relationships/notesSlide" Target="/ppt/notesSlides/notesSlide2.xml" Id="Rbcdce28b51f84a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90b92ac3f4206" /><Relationship Type="http://schemas.openxmlformats.org/officeDocument/2006/relationships/image" Target="/ppt/media/image3.jpeg" Id="R531f99d35e6a49b5" /><Relationship Type="http://schemas.openxmlformats.org/officeDocument/2006/relationships/notesSlide" Target="/ppt/notesSlides/notesSlide3.xml" Id="R11d95726f0a841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71f8546cc40ee" /><Relationship Type="http://schemas.openxmlformats.org/officeDocument/2006/relationships/notesSlide" Target="/ppt/notesSlides/notesSlide4.xml" Id="R73b6f76a038b45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b8723351f43c2"/>
          <a:srcRect xmlns:a="http://schemas.openxmlformats.org/drawingml/2006/main" l="16908" t="0" r="169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5B79F-B9F9-4F55-A7B1-7B736294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695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2B6D6-200F-4485-BE57-4673DB3C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67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D9DE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DEE4"/>
                </a:solidFill>
                <a:latin typeface="Microsoft YaHei"/>
                <a:ea typeface="Microsoft YaHei"/>
                <a:cs typeface="Microsoft YaHei"/>
              </a:rPr>
              <a:t>主音乐厅：狭长空间、侧墙浮雕与舞台反射罩共同塑造声场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5F4EE-1E27-4F92-8CD3-5CDF3D9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8CC39-6811-486E-9068-23C791A3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C3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C89B6-7B58-4105-9D20-5DC320FD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rPr>
              <a:t>案例 01  瑞士·卢塞恩  1998–2000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57D2E-6F8D-4F8F-8393-342F5880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23900"/>
            <a:ext cx="414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卢塞恩文化与会议中心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60D19-9A71-4D50-82D0-CB1190E7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rPr>
              <a:t>耦合空间让混响可调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7D189-E6D1-417C-92B4-2D6A1898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40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9437E-8140-4375-A644-7912F8C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B5894-5ED6-43FD-911F-AAA0D251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574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rPr>
              <a:t>空间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0415E-59EA-42FB-B57D-A0372696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4317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鞋盒式大厅保持较近的侧墙距离，为观众提供清晰的侧向反射。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C8C66-1186-408F-AFD9-D5A60DE8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D0AE8-C3B5-4418-84EB-C4ACE633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432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rPr>
              <a:t>界面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30FEC-EB9C-4C38-A82D-2F90CFA2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290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墙面石膏浮雕打散镜面反射，舞台上方反射罩帮助演奏者互听。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C7AA6-9AAC-457C-BB17-7FDFCF36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96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86BD0-3632-4C10-9010-BE5B1634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29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CC3D5"/>
                </a:solidFill>
                <a:latin typeface="Microsoft YaHei"/>
                <a:ea typeface="Microsoft YaHei"/>
                <a:cs typeface="Microsoft YaHei"/>
              </a:rPr>
              <a:t>调节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F598D-8A94-46C2-86A0-5D150BD9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1487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大厅与附加混响室通过可控开口连接，可改变声音的延续程度。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E3937-3295-408F-8FB4-64131B6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53100"/>
            <a:ext cx="4095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02B39"/>
          </a:solidFill>
          <a:ln xmlns:a="http://schemas.openxmlformats.org/drawingml/2006/main" w="11430">
            <a:solidFill>
              <a:srgbClr val="6C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7798B-BC12-4BDC-9FD3-BB09914F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674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听觉结果：声音清晰而丰满，并能适应不同规模的音乐作品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25042-90E3-4DE9-8226-9EF7F0C0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7103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dcc38feb249ba"/>
          <a:srcRect xmlns:a="http://schemas.openxmlformats.org/drawingml/2006/main" l="27858" t="0" r="278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F562C-7DC6-4D70-ADCF-F00105AF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695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205B0-7857-4ED4-A791-2F15862B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67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D9DE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DEE4"/>
                </a:solidFill>
                <a:latin typeface="Microsoft YaHei"/>
                <a:ea typeface="Microsoft YaHei"/>
                <a:cs typeface="Microsoft YaHei"/>
              </a:rPr>
              <a:t>葡萄园式布局：观众席分区围绕舞台，反射面靠近听众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2683F-014A-4324-BB72-4E07F9BE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C7CF5-ADED-431E-9320-AEF91C99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A45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97CAA-641A-4931-A000-36AD87B8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rPr>
              <a:t>案例 02  丹麦·哥本哈根  2002–2009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5753E-E7BA-4BB5-B372-3A784D00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23900"/>
            <a:ext cx="414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丹麦广播音乐厅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E4A59-7361-4385-98DD-F969F5F2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rPr>
              <a:t>梯田式座席组织早期反射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F5848-1EC9-4F6E-8B92-A1ED733E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40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6E1D8-EE99-4162-8590-D4CFD20B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87F90-5D7E-4084-A773-FDB5D8E9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574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rPr>
              <a:t>空间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94A62-593C-4766-BF4F-BD4111DA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4317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葡萄园式座席围绕中央舞台，缩短观众与声源的视觉和听觉距离。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594A4-88C5-47D8-A02C-59663FB6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E42E3-C15B-43D0-A1A6-2640DDD1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432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rPr>
              <a:t>反射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A91E8-B2C4-4DE4-9D15-5B01396F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290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座席高差形成矮墙和倾斜界面，为不同分区补充较早到达的反射声。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F9D63-BDAF-44C6-AB87-780A2209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96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ACCEC-F92A-400E-970A-604E097C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29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1A451"/>
                </a:solidFill>
                <a:latin typeface="Microsoft YaHei"/>
                <a:ea typeface="Microsoft YaHei"/>
                <a:cs typeface="Microsoft YaHei"/>
              </a:rPr>
              <a:t>适应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2E133-7877-404B-86C2-0A516835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1487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高大容积保留余韵，可调舞台反射板和吸声帘适配不同节目。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09B42-60F8-4FC0-8C5F-64CB3010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53100"/>
            <a:ext cx="4095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02B39"/>
          </a:solidFill>
          <a:ln xmlns:a="http://schemas.openxmlformats.org/drawingml/2006/main" w="11430">
            <a:solidFill>
              <a:srgbClr val="F1A4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F1F19-63B6-43AF-9C7C-C7353DC3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674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听觉结果：声音更直接、亲近，观众获得较强的共同参与感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FFB1C-CDDA-43A3-80BC-CB7352B6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3997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f99d35e6a49b5"/>
          <a:srcRect xmlns:a="http://schemas.openxmlformats.org/drawingml/2006/main" l="19020" t="0" r="190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44C5C-BCCA-4236-9193-DB038897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695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46E97-4F53-4EBD-A91F-7B0A2BA0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67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D9DE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DEE4"/>
                </a:solidFill>
                <a:latin typeface="Microsoft YaHei"/>
                <a:ea typeface="Microsoft YaHei"/>
                <a:cs typeface="Microsoft YaHei"/>
              </a:rPr>
              <a:t>悬浮楼座位于更大的厅堂容积中，内外两层共同组织反射声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804E9-0DB6-4092-825E-8B85D1A4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1BC3A-4975-4C8E-A593-0464C971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8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14062-509C-4E5F-BEE3-19245270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rPr>
              <a:t>案例 03  法国·巴黎  2007–2015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195C5-116B-4A49-AD89-D76BAFF5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23900"/>
            <a:ext cx="414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巴黎爱乐音乐厅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2D697-A47F-4552-9BA9-B7359CDD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rPr>
              <a:t>嵌套空间分配早期与后期声能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85ACF-D193-4CB1-BA91-5A5D9045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40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25CCD-45D7-4478-9DC4-4CB3F657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6ABC0-E49F-4409-AA74-A35AA688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574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rPr>
              <a:t>内层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556DD-F9F1-4948-96A6-D74C16A9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4317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楼座前沿、分区墙和云状反射体提供早期反射，保持声音清晰。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B0EB6-AFE7-4049-B1F5-FBF5A29F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B59D2-85CD-4014-A19D-8AC1902D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432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rPr>
              <a:t>外层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3EC01-01B8-4F33-86F6-01C66499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290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声音绕过悬浮楼座进入外围容积，形成较晚反射和包围感。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BBB67-AC4F-4E78-BA47-2392204F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96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9AFD4-7A10-4957-B940-FE6E8751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29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A8FF"/>
                </a:solidFill>
                <a:latin typeface="Microsoft YaHei"/>
                <a:ea typeface="Microsoft YaHei"/>
                <a:cs typeface="Microsoft YaHei"/>
              </a:rPr>
              <a:t>隔声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03A2B-7F7F-4B19-8F9D-FFE04D5C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1487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“盒中盒”围护构造削弱周边道路与演出设施噪声对弱音的掩蔽。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8C3E9-6C88-4999-BD10-5AB989FE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53100"/>
            <a:ext cx="4095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202B39"/>
          </a:solidFill>
          <a:ln xmlns:a="http://schemas.openxmlformats.org/drawingml/2006/main" w="11430">
            <a:solidFill>
              <a:srgbClr val="C8A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AEA35-8681-4726-9201-EB96B119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674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听觉结果：舞台声音近而明确，混响从周围展开，形成沉浸感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35BC4-F75B-4438-9C70-C13B114E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9C1C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8823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E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809A5-A685-44D3-A8CA-6704F80E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6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202B"/>
                </a:solidFill>
                <a:latin typeface="Microsoft YaHei"/>
                <a:ea typeface="Microsoft YaHei"/>
                <a:cs typeface="Microsoft YaHei"/>
              </a:rPr>
              <a:t>三种空间组织声音的方式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F2C96-C7EA-427F-BB50-0C6C6B8A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3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06D"/>
                </a:solidFill>
                <a:latin typeface="Microsoft YaHei"/>
                <a:ea typeface="Microsoft YaHei"/>
                <a:cs typeface="Microsoft YaHei"/>
              </a:rPr>
              <a:t>比较重点：反射声从哪里产生、何时到达，以及空间如何调节余韵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CEC04-1883-446D-86E4-720A097B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BB5AA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1600200"/>
          <a:ext xmlns:a="http://schemas.openxmlformats.org/drawingml/2006/main" cx="108966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143250"/>
                <a:gridCol w="3143250"/>
                <a:gridCol w="3181350"/>
              </a:tblGrid>
              <a:tr h="55245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8F6F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1440" marR="91440" marT="45720" marB="45720" anchor="ctr">
                    <a:solidFill>
                      <a:srgbClr val="161F2D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8F6F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卢塞恩 KKL</a:t>
                      </a:r>
                    </a:p>
                  </a:txBody>
                  <a:tcPr marL="91440" marR="91440" marT="45720" marB="45720" anchor="ctr">
                    <a:solidFill>
                      <a:srgbClr val="2C7788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8F6F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丹麦广播音乐厅</a:t>
                      </a:r>
                    </a:p>
                  </a:txBody>
                  <a:tcPr marL="91440" marR="91440" marT="45720" marB="45720" anchor="ctr">
                    <a:solidFill>
                      <a:srgbClr val="A46527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8F6F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巴黎爱乐音乐厅</a:t>
                      </a:r>
                    </a:p>
                  </a:txBody>
                  <a:tcPr marL="91440" marR="91440" marT="45720" marB="45720" anchor="ctr">
                    <a:solidFill>
                      <a:srgbClr val="6C5795"/>
                    </a:solidFill>
                  </a:tcPr>
                </a:tc>
              </a:tr>
              <a:tr h="78105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空间原型</a:t>
                      </a:r>
                    </a:p>
                  </a:txBody>
                  <a:tcPr marL="91440" marR="91440" marT="45720" marB="45720" anchor="ctr">
                    <a:solidFill>
                      <a:srgbClr val="DDD8CF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鞋盒式大厅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＋附加混响室</a:t>
                      </a:r>
                    </a:p>
                  </a:txBody>
                  <a:tcPr marL="91440" marR="91440" marT="45720" marB="45720" anchor="ctr">
                    <a:solidFill>
                      <a:srgbClr val="ECE8E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葡萄园式座席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围绕中央舞台</a:t>
                      </a:r>
                    </a:p>
                  </a:txBody>
                  <a:tcPr marL="91440" marR="91440" marT="45720" marB="45720" anchor="ctr">
                    <a:solidFill>
                      <a:srgbClr val="ECE8E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悬浮楼座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置于大容积内</a:t>
                      </a:r>
                    </a:p>
                  </a:txBody>
                  <a:tcPr marL="91440" marR="91440" marT="45720" marB="45720" anchor="ctr">
                    <a:solidFill>
                      <a:srgbClr val="ECE8E0"/>
                    </a:solidFill>
                  </a:tcPr>
                </a:tc>
              </a:tr>
              <a:tr h="10287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声学核心</a:t>
                      </a:r>
                    </a:p>
                  </a:txBody>
                  <a:tcPr marL="91440" marR="91440" marT="45720" marB="45720" anchor="ctr">
                    <a:solidFill>
                      <a:srgbClr val="DDD8CF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侧墙与浮雕扩散反射；耦合空间延长余韵</a:t>
                      </a:r>
                    </a:p>
                  </a:txBody>
                  <a:tcPr marL="91440" marR="91440" marT="45720" marB="45720" anchor="ctr">
                    <a:solidFill>
                      <a:srgbClr val="F8F6F1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分区矮墙提供早期反射，拉近舞台与观众</a:t>
                      </a:r>
                    </a:p>
                  </a:txBody>
                  <a:tcPr marL="91440" marR="91440" marT="45720" marB="45720" anchor="ctr">
                    <a:solidFill>
                      <a:srgbClr val="F8F6F1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内层保证清晰度，外围空间形成后期混响</a:t>
                      </a:r>
                    </a:p>
                  </a:txBody>
                  <a:tcPr marL="91440" marR="91440" marT="45720" marB="45720" anchor="ctr">
                    <a:solidFill>
                      <a:srgbClr val="F8F6F1"/>
                    </a:solidFill>
                  </a:tcPr>
                </a:tc>
              </a:tr>
              <a:tr h="78105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可调方式</a:t>
                      </a:r>
                    </a:p>
                  </a:txBody>
                  <a:tcPr marL="91440" marR="91440" marT="45720" marB="45720" anchor="ctr">
                    <a:solidFill>
                      <a:srgbClr val="DDD8CF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控制混响室开口与舞台反射罩</a:t>
                      </a:r>
                    </a:p>
                  </a:txBody>
                  <a:tcPr marL="91440" marR="91440" marT="45720" marB="45720" anchor="ctr">
                    <a:solidFill>
                      <a:srgbClr val="ECE8E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调节舞台反射板和吸声帘</a:t>
                      </a:r>
                    </a:p>
                  </a:txBody>
                  <a:tcPr marL="91440" marR="91440" marT="45720" marB="45720" anchor="ctr">
                    <a:solidFill>
                      <a:srgbClr val="ECE8E0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调节外围吸声与舞台附近反射条件</a:t>
                      </a:r>
                    </a:p>
                  </a:txBody>
                  <a:tcPr marL="91440" marR="91440" marT="45720" marB="45720" anchor="ctr">
                    <a:solidFill>
                      <a:srgbClr val="ECE8E0"/>
                    </a:solidFill>
                  </a:tcPr>
                </a:tc>
              </a:tr>
              <a:tr h="762000"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主要听感</a:t>
                      </a:r>
                    </a:p>
                  </a:txBody>
                  <a:tcPr marL="91440" marR="91440" marT="45720" marB="45720" anchor="ctr">
                    <a:solidFill>
                      <a:srgbClr val="DDD8CF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清晰、丰满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适应性强</a:t>
                      </a:r>
                    </a:p>
                  </a:txBody>
                  <a:tcPr marL="91440" marR="91440" marT="45720" marB="45720" anchor="ctr">
                    <a:solidFill>
                      <a:srgbClr val="F8F6F1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直接、亲近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参与感强</a:t>
                      </a:r>
                    </a:p>
                  </a:txBody>
                  <a:tcPr marL="91440" marR="91440" marT="45720" marB="45720" anchor="ctr">
                    <a:solidFill>
                      <a:srgbClr val="F8F6F1"/>
                    </a:solidFill>
                  </a:tcPr>
                </a:tc>
                <a:tc>
                  <a:txBody>
                    <a:bodyPr lIns="114300" tIns="76200" rIns="1143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清晰、包围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16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空间感强</a:t>
                      </a:r>
                    </a:p>
                  </a:txBody>
                  <a:tcPr marL="91440" marR="91440" marT="45720" marB="45720" anchor="ctr"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C8702-C170-40F4-87D7-F8B7EC80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0896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0976D-4811-4C97-BFCA-A13ADCD8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8F6F1"/>
                </a:solidFill>
                <a:latin typeface="Microsoft YaHei"/>
                <a:ea typeface="Microsoft YaHei"/>
                <a:cs typeface="Microsoft YaHei"/>
              </a:rPr>
              <a:t>共同点：大厅容积、楼座与墙面直接参与声场组织，建筑形态本身就是声学装置。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746D5-E688-48B9-BF99-4E33FCCF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53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C7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3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5530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2026-09-22T15:06:00.2520000Z</dcterms:created>
  <dcterms:modified xsi:type="dcterms:W3CDTF">2026-09-22T15:06:00.2520000Z</dcterms:modified>
</coreProperties>
</file>