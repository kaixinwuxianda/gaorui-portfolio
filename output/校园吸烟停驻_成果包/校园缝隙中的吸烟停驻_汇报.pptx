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487b638774a47" /><Relationship Type="http://schemas.openxmlformats.org/officeDocument/2006/relationships/extended-properties" Target="/docProps/app.xml" Id="Ra177585002fe4247" /><Relationship Type="http://schemas.openxmlformats.org/officeDocument/2006/relationships/officeDocument" Target="/ppt/presentation.xml" Id="R656246537af04b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a5f1be1b054be7"/>
  </p:sldMasterIdLst>
  <p:notesMasterIdLst>
    <p:notesMasterId xmlns:r="http://schemas.openxmlformats.org/officeDocument/2006/relationships" r:id="R2ab95d843c9a43e6"/>
  </p:notesMasterIdLst>
  <p:sldIdLst>
    <p:sldId xmlns:r="http://schemas.openxmlformats.org/officeDocument/2006/relationships" id="256" r:id="R80aa75fa629141a8"/>
    <p:sldId xmlns:r="http://schemas.openxmlformats.org/officeDocument/2006/relationships" id="257" r:id="R0fa4766914a34c55"/>
    <p:sldId xmlns:r="http://schemas.openxmlformats.org/officeDocument/2006/relationships" id="258" r:id="R4151aa79209849f4"/>
    <p:sldId xmlns:r="http://schemas.openxmlformats.org/officeDocument/2006/relationships" id="259" r:id="R27ca84bce26e4b75"/>
    <p:sldId xmlns:r="http://schemas.openxmlformats.org/officeDocument/2006/relationships" id="260" r:id="R003752c2a98f4f92"/>
    <p:sldId xmlns:r="http://schemas.openxmlformats.org/officeDocument/2006/relationships" id="261" r:id="R921d33a091a0450d"/>
    <p:sldId xmlns:r="http://schemas.openxmlformats.org/officeDocument/2006/relationships" id="262" r:id="R713a75d754cc440f"/>
    <p:sldId xmlns:r="http://schemas.openxmlformats.org/officeDocument/2006/relationships" id="263" r:id="R036d17d3a1744a66"/>
    <p:sldId xmlns:r="http://schemas.openxmlformats.org/officeDocument/2006/relationships" id="264" r:id="Re7aa0444fcca4040"/>
    <p:sldId xmlns:r="http://schemas.openxmlformats.org/officeDocument/2006/relationships" id="265" r:id="Ra68040681ecc4e3d"/>
  </p:sldIdLst>
  <p:sldSz cx="10687050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9461c8b226487e" /><Relationship Type="http://schemas.openxmlformats.org/officeDocument/2006/relationships/slideMaster" Target="/ppt/slideMasters/slideMaster1.xml" Id="Rf3a5f1be1b054be7" /><Relationship Type="http://schemas.openxmlformats.org/officeDocument/2006/relationships/notesMaster" Target="/ppt/notesMasters/notesMaster1.xml" Id="R2ab95d843c9a43e6" /><Relationship Type="http://schemas.openxmlformats.org/officeDocument/2006/relationships/presProps" Target="/ppt/presProps.xml" Id="R447f7527509843ef" /><Relationship Type="http://schemas.openxmlformats.org/officeDocument/2006/relationships/tableStyles" Target="/ppt/tableStyles.xml" Id="Rfbd951ffe0c04504" /><Relationship Type="http://schemas.openxmlformats.org/officeDocument/2006/relationships/slide" Target="/ppt/slides/slide1.xml" Id="R80aa75fa629141a8" /><Relationship Type="http://schemas.openxmlformats.org/officeDocument/2006/relationships/slide" Target="/ppt/slides/slide2.xml" Id="R0fa4766914a34c55" /><Relationship Type="http://schemas.openxmlformats.org/officeDocument/2006/relationships/slide" Target="/ppt/slides/slide3.xml" Id="R4151aa79209849f4" /><Relationship Type="http://schemas.openxmlformats.org/officeDocument/2006/relationships/slide" Target="/ppt/slides/slide4.xml" Id="R27ca84bce26e4b75" /><Relationship Type="http://schemas.openxmlformats.org/officeDocument/2006/relationships/slide" Target="/ppt/slides/slide5.xml" Id="R003752c2a98f4f92" /><Relationship Type="http://schemas.openxmlformats.org/officeDocument/2006/relationships/slide" Target="/ppt/slides/slide6.xml" Id="R921d33a091a0450d" /><Relationship Type="http://schemas.openxmlformats.org/officeDocument/2006/relationships/slide" Target="/ppt/slides/slide7.xml" Id="R713a75d754cc440f" /><Relationship Type="http://schemas.openxmlformats.org/officeDocument/2006/relationships/slide" Target="/ppt/slides/slide8.xml" Id="R036d17d3a1744a66" /><Relationship Type="http://schemas.openxmlformats.org/officeDocument/2006/relationships/slide" Target="/ppt/slides/slide9.xml" Id="Re7aa0444fcca4040" /><Relationship Type="http://schemas.openxmlformats.org/officeDocument/2006/relationships/slide" Target="/ppt/slides/slide10.xml" Id="Ra68040681ecc4e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14ffec60043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0585f47da46c5" /><Relationship Type="http://schemas.openxmlformats.org/officeDocument/2006/relationships/notesMaster" Target="/ppt/notesMasters/notesMaster1.xml" Id="Rb5f33c86dcbe4c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c5cda47ee04eee" /><Relationship Type="http://schemas.openxmlformats.org/officeDocument/2006/relationships/notesMaster" Target="/ppt/notesMasters/notesMaster1.xml" Id="R304cb438008748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fc73bd4ec245d4" /><Relationship Type="http://schemas.openxmlformats.org/officeDocument/2006/relationships/notesMaster" Target="/ppt/notesMasters/notesMaster1.xml" Id="Rfb30ea037f244a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e7583df7f24e7f" /><Relationship Type="http://schemas.openxmlformats.org/officeDocument/2006/relationships/notesMaster" Target="/ppt/notesMasters/notesMaster1.xml" Id="R817009f24066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56aecb7ae74ff7" /><Relationship Type="http://schemas.openxmlformats.org/officeDocument/2006/relationships/notesMaster" Target="/ppt/notesMasters/notesMaster1.xml" Id="R726e2c5ace0842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745e3dc25940cf" /><Relationship Type="http://schemas.openxmlformats.org/officeDocument/2006/relationships/notesMaster" Target="/ppt/notesMasters/notesMaster1.xml" Id="Rec4a03f1024b4c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b6fc0a7dfc4bc4" /><Relationship Type="http://schemas.openxmlformats.org/officeDocument/2006/relationships/notesMaster" Target="/ppt/notesMasters/notesMaster1.xml" Id="Ra4a3bef26953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07281b1eb44166" /><Relationship Type="http://schemas.openxmlformats.org/officeDocument/2006/relationships/notesMaster" Target="/ppt/notesMasters/notesMaster1.xml" Id="R5e6096a45f414f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da52a2ea2746a2" /><Relationship Type="http://schemas.openxmlformats.org/officeDocument/2006/relationships/notesMaster" Target="/ppt/notesMasters/notesMaster1.xml" Id="Rfb77bfdd2bab4e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64bd546bbf4608" /><Relationship Type="http://schemas.openxmlformats.org/officeDocument/2006/relationships/notesMaster" Target="/ppt/notesMasters/notesMaster1.xml" Id="R752045c8c2d1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题目是“校园缝隙中的吸烟停驻”，研究范围为西安建筑科技大学雁塔校区。我们关注一个具体问题：吸烟行为为什么会借用走廊边缘、座椅、垃圾桶旁和窗边？这些日常停留，又如何影响他人使用同一空间？本次以选题材料的四张照片为基础，完成定性分析与策略推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>用户提供《2026年秋季空间社会学课程作业(3).pdf》，第3—4页。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单位是一次停驻及其周围的微空间。我们按图像编码、类型比较、机制解释、空间评价和优化策略展开。需要说明，现有材料没有连续观察和访谈记录，照片的具体楼栋与拍摄时间也未核实，因此本报告不报告全校吸烟人数，也不把照片数量当作发生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张照片分别呈现教学楼半室外边缘、室外座椅、垃圾桶旁和卫生间窗边。可以直接识别的差异是围合程度、坐立姿态，以及人物和设施的位置关系。它们提示我们：吸烟停驻能够与原有空间功能叠加，但照片本身还不能证明这些地方已成为稳定的吸烟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比较显示，边缘提供可以靠近的界面，座椅支持坐姿停留，垃圾桶构成醒目的设施节点，窗边则连接室内与室外。由此可以提出便利性、舒适性和可见性的解释。不过，靠近垃圾桶不等于实际向桶内弃烟，靠窗也不等于烟雾一定排出室外，动机与效果都需要另外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>Project for Public Spaces. A Primer on Seating. https://www.pps.org/article/generalseating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此提出三个问题：空间为什么被选择，行为怎样重复，又由谁承担使用冲突。吸烟者可能重视便利和短暂休息，路人关心能否自由通行，其他使用者关心能否不受烟雾影响地停留，管理者则需要清晰的责任范围。这些都是分析角度，不能当作已经取得的访谈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>Whyte, W. H. (1980). The Social Life of Small Urban Spaces. https://www.pps.org/product/the-social-life-of-small-urban-spaces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框架连接物质空间、日常实践和规则体验。空间生产视角帮助解释正式用途与实际使用的关系，Whyte的公共空间观察方法提醒我们记录设施与行为的对应关系。具体到校园，既要看墙、窗、座椅，也要记录停留与互动，并核对标识、规则认知和他人的使用感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Lefebvre, H. (1991). The Production of Space. Blackwell. https://www.wiley-vch.de/en/areas-interest/humanities-social-sciences/the-production-of-space-978-0-631-18177-4</a:t>
            </a:r>
          </a:p>
          <a:p xmlns:a="http://schemas.openxmlformats.org/drawingml/2006/main">
            <a:r>
              <a:t>Whyte, W. H. (1980). The Social Life of Small Urban Spaces. https://www.pps.org/product/the-social-life-of-small-urban-spaces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提出三个待验证机制。第一，接近日常活动地点可能降低停驻成本，需要比较距离相近但条件不同的点位。第二，他人的重复出现可能形成跟随使用，需要多时段观察和访谈。第三，正式规则与使用者理解可能存在偏差，需要核对校规、标识与认知。四张照片目前只支持寻找这些机制的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>Lefebvre, H. (1991). The Production of Space. Blackwell. https://www.wiley-vch.de/en/areas-interest/humanities-social-sciences/the-production-of-space-978-0-631-18177-4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空间评价首先判断规则边界与公共使用冲突，再考虑便利和舒适。按照高校建筑物内禁烟要求，卫生间窗边应优先纠偏。半室外边缘需核实建筑边界和通行关系，座椅与桶旁需判断对共享使用的影响。没有实测数据的项目标记为待核，避免用主观分数制造精确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教育部（2014），《关于在全国各级各类学校禁烟有关事项的通知》，教基一函〔2014〕1号。https://www.moe.gov.cn/srcsite/A06/s3325/201401/t20140117_163289.html</a:t>
            </a:r>
          </a:p>
          <a:p xmlns:a="http://schemas.openxmlformats.org/drawingml/2006/main">
            <a:r>
              <a:t>国家卫生健康委、教育部（2020），《关于进一步加强无烟学校建设工作的通知》，国卫规划函〔2020〕455号。https://www.moe.gov.cn/jyb_xxgk/moe_1777/moe_1779/202104/t20210408_525035.html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优化策略按空间类型展开：卫生间和室内走廊明确禁烟并形成劝阻反馈，半室外界面保障门窗和通行空间，室外座椅保留正常休憩功能，垃圾桶节点检查清洁与设施布置。策略重点是减少公共使用冲突，并提供无烟休息选择和戒烟支持。是否设置室外吸烟点，应另外核对学校现行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教育部（2014），《关于在全国各级各类学校禁烟有关事项的通知》，教基一函〔2014〕1号。https://www.moe.gov.cn/srcsite/A06/s3325/201401/t20140117_163289.html</a:t>
            </a:r>
          </a:p>
          <a:p xmlns:a="http://schemas.openxmlformats.org/drawingml/2006/main">
            <a:r>
              <a:t>国家卫生健康委、教育部（2020），《关于进一步加强无烟学校建设工作的通知》，国卫规划函〔2020〕455号。https://www.moe.gov.cn/jyb_xxgk/moe_1777/moe_1779/202104/t20210408_525035.html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形成三点结论。第一，现有材料提示，吸烟停驻会借用既有设施和边界。第二，非正式吸烟点是否形成，取决于重复使用和规则认知，尚不能由单次图像确认。第三，改善空间应优先保障无烟使用与正常通行，再通过同点复查检验效果。这是基于已有图像的结论边界，也是后续实地调研需要补强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材料来源与说明</a:t>
            </a:r>
          </a:p>
          <a:p xmlns:a="http://schemas.openxmlformats.org/drawingml/2006/main">
            <a:r>
              <a:t>用户提供《7;smoking.ppt》，1页选题材料。照片地点、时间及是否为自然观察尚未核实。</a:t>
            </a:r>
          </a:p>
          <a:p xmlns:a="http://schemas.openxmlformats.org/drawingml/2006/main">
            <a:r>
              <a:t>用户提供《2026年秋季空间社会学课程作业(3).pdf》，第3—4页。</a:t>
            </a:r>
          </a:p>
          <a:p xmlns:a="http://schemas.openxmlformats.org/drawingml/2006/main">
            <a:r>
              <a:t>Whyte, W. H. (1980). The Social Life of Small Urban Spaces. https://www.pps.org/product/the-social-life-of-small-urban-spaces</a:t>
            </a:r>
          </a:p>
          <a:p xmlns:a="http://schemas.openxmlformats.org/drawingml/2006/main">
            <a:r>
              <a:t>Project for Public Spaces. A Primer on Seating. https://www.pps.org/article/generalseating</a:t>
            </a:r>
          </a:p>
          <a:p xmlns:a="http://schemas.openxmlformats.org/drawingml/2006/main">
            <a:r>
              <a:t>Lefebvre, H. (1991). The Production of Space. Blackwell. https://www.wiley-vch.de/en/areas-interest/humanities-social-sciences/the-production-of-space-978-0-631-18177-4</a:t>
            </a:r>
          </a:p>
          <a:p xmlns:a="http://schemas.openxmlformats.org/drawingml/2006/main">
            <a:r>
              <a:t>教育部（2014），《关于在全国各级各类学校禁烟有关事项的通知》，教基一函〔2014〕1号。https://www.moe.gov.cn/srcsite/A06/s3325/201401/t20140117_163289.html</a:t>
            </a:r>
          </a:p>
          <a:p xmlns:a="http://schemas.openxmlformats.org/drawingml/2006/main">
            <a:r>
              <a:t>国家卫生健康委、教育部（2020），《关于进一步加强无烟学校建设工作的通知》，国卫规划函〔2020〕455号。https://www.moe.gov.cn/jyb_xxgk/moe_1777/moe_1779/202104/t20210408_525035.html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公开资料查阅日期：2026年9月21日。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de9fa076c4c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6a18e34dc94fc7" /><Relationship Type="http://schemas.openxmlformats.org/officeDocument/2006/relationships/slideLayout" Target="/ppt/slideLayouts/slideLayout1.xml" Id="Rb9fedd0459ac40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fedd0459ac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879017b53419e" /><Relationship Type="http://schemas.openxmlformats.org/officeDocument/2006/relationships/notesSlide" Target="/ppt/notesSlides/notesSlide1.xml" Id="R32057ce0761141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667a9fc3d4f25" /><Relationship Type="http://schemas.openxmlformats.org/officeDocument/2006/relationships/notesSlide" Target="/ppt/notesSlides/notesSlide2.xml" Id="R24161f260142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5d5f008cb454e" /><Relationship Type="http://schemas.openxmlformats.org/officeDocument/2006/relationships/image" Target="/ppt/media/image.jpeg" Id="R18582b9d73ce4239" /><Relationship Type="http://schemas.openxmlformats.org/officeDocument/2006/relationships/image" Target="/ppt/media/image2.jpeg" Id="Rdf029e6a84ae45cf" /><Relationship Type="http://schemas.openxmlformats.org/officeDocument/2006/relationships/image" Target="/ppt/media/image3.jpeg" Id="R14b4062319b8492e" /><Relationship Type="http://schemas.openxmlformats.org/officeDocument/2006/relationships/image" Target="/ppt/media/image4.jpeg" Id="R787a21c0d07347b4" /><Relationship Type="http://schemas.openxmlformats.org/officeDocument/2006/relationships/notesSlide" Target="/ppt/notesSlides/notesSlide3.xml" Id="R6fe469f08d314f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3f13851c74146" /><Relationship Type="http://schemas.openxmlformats.org/officeDocument/2006/relationships/notesSlide" Target="/ppt/notesSlides/notesSlide4.xml" Id="Rdd293f9eda7547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0b9a9a2c24f70" /><Relationship Type="http://schemas.openxmlformats.org/officeDocument/2006/relationships/notesSlide" Target="/ppt/notesSlides/notesSlide5.xml" Id="Rd1d117c3203d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3a67526e5462c" /><Relationship Type="http://schemas.openxmlformats.org/officeDocument/2006/relationships/notesSlide" Target="/ppt/notesSlides/notesSlide6.xml" Id="R2573938c37b2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7ceb3e3c8481f" /><Relationship Type="http://schemas.openxmlformats.org/officeDocument/2006/relationships/notesSlide" Target="/ppt/notesSlides/notesSlide7.xml" Id="R0e65e31d190341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7dbc98e144214" /><Relationship Type="http://schemas.openxmlformats.org/officeDocument/2006/relationships/notesSlide" Target="/ppt/notesSlides/notesSlide8.xml" Id="Rd2f9fce58af14b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aae27b170457a" /><Relationship Type="http://schemas.openxmlformats.org/officeDocument/2006/relationships/notesSlide" Target="/ppt/notesSlides/notesSlide9.xml" Id="Rbe6fe621c90f4a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0fc3f98c8444f" /><Relationship Type="http://schemas.openxmlformats.org/officeDocument/2006/relationships/notesSlide" Target="/ppt/notesSlides/notesSlide10.xml" Id="R095da302c8514e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2026年秋季空间社会学课程作业">
            <a:extLst xmlns:a="http://schemas.openxmlformats.org/drawingml/2006/main">
              <a:ext uri="{FF2B5EF4-FFF2-40B4-BE49-F238E27FC236}">
                <a16:creationId xmlns:a16="http://schemas.microsoft.com/office/drawing/2014/main" id="{03C2A063-EA18-45C8-8C31-F0697FF6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2026年秋季空间社会学课程作业</a:t>
            </a:r>
          </a:p>
        </p:txBody>
      </p:sp>
      <p:sp>
        <p:nvSpPr>
          <p:cNvPr id="2" name="校园缝隙中的&#10;吸烟停驻">
            <a:extLst xmlns:a="http://schemas.openxmlformats.org/drawingml/2006/main">
              <a:ext uri="{FF2B5EF4-FFF2-40B4-BE49-F238E27FC236}">
                <a16:creationId xmlns:a16="http://schemas.microsoft.com/office/drawing/2014/main" id="{719FD782-1885-4930-B57E-9F893338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9429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校园缝隙中的</a:t>
            </a:r>
          </a:p>
          <a:p xmlns:a="http://schemas.openxmlformats.org/drawingml/2006/main">
            <a:pPr>
              <a:defRPr sz="46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吸烟停驻</a:t>
            </a:r>
          </a:p>
        </p:txBody>
      </p:sp>
      <p:sp>
        <p:nvSpPr>
          <p:cNvPr id="3" name="非正式吸烟空间的形成机制、空间评价与优化策略">
            <a:extLst xmlns:a="http://schemas.openxmlformats.org/drawingml/2006/main">
              <a:ext uri="{FF2B5EF4-FFF2-40B4-BE49-F238E27FC236}">
                <a16:creationId xmlns:a16="http://schemas.microsoft.com/office/drawing/2014/main" id="{3A54D555-CCF0-46C7-AADD-8DD13360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954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非正式吸烟空间的形成机制、空间评价与优化策略</a:t>
            </a:r>
          </a:p>
        </p:txBody>
      </p:sp>
      <p:sp>
        <p:nvSpPr>
          <p:cNvPr id="4" name="西安建筑科技大学雁塔校区">
            <a:extLst xmlns:a="http://schemas.openxmlformats.org/drawingml/2006/main">
              <a:ext uri="{FF2B5EF4-FFF2-40B4-BE49-F238E27FC236}">
                <a16:creationId xmlns:a16="http://schemas.microsoft.com/office/drawing/2014/main" id="{0F814371-AAC1-45F7-9CA2-A74B9300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西安建筑科技大学雁塔校区</a:t>
            </a:r>
          </a:p>
        </p:txBody>
      </p:sp>
      <p:sp>
        <p:nvSpPr>
          <p:cNvPr id="5" name="关键词  停驻">
            <a:extLst xmlns:a="http://schemas.openxmlformats.org/drawingml/2006/main">
              <a:ext uri="{FF2B5EF4-FFF2-40B4-BE49-F238E27FC236}">
                <a16:creationId xmlns:a16="http://schemas.microsoft.com/office/drawing/2014/main" id="{37BA6956-5E37-4E2F-9211-B68D6135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关键词  停驻</a:t>
            </a:r>
          </a:p>
        </p:txBody>
      </p:sp>
      <p:sp>
        <p:nvSpPr>
          <p:cNvPr id="6" name="基于选题图像的定性研究与设计推演">
            <a:extLst xmlns:a="http://schemas.openxmlformats.org/drawingml/2006/main">
              <a:ext uri="{FF2B5EF4-FFF2-40B4-BE49-F238E27FC236}">
                <a16:creationId xmlns:a16="http://schemas.microsoft.com/office/drawing/2014/main" id="{CC2B45C0-87C1-47F2-BB7A-0C8AE79F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基于选题图像的定性研究与设计推演</a:t>
            </a:r>
          </a:p>
        </p:txBody>
      </p:sp>
      <p:sp>
        <p:nvSpPr>
          <p:cNvPr id="7" name="研究边界：校园　　证据基础：选题材料中的4张照片">
            <a:extLst xmlns:a="http://schemas.openxmlformats.org/drawingml/2006/main">
              <a:ext uri="{FF2B5EF4-FFF2-40B4-BE49-F238E27FC236}">
                <a16:creationId xmlns:a16="http://schemas.microsoft.com/office/drawing/2014/main" id="{E8961D11-740A-4249-B197-29882F2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研究边界：校园　　证据基础：选题材料中的4张照片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870C41C5-4F62-4347-A220-73E84DEC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3496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研究范围与技术路线">
            <a:extLst xmlns:a="http://schemas.openxmlformats.org/drawingml/2006/main">
              <a:ext uri="{FF2B5EF4-FFF2-40B4-BE49-F238E27FC236}">
                <a16:creationId xmlns:a16="http://schemas.microsoft.com/office/drawing/2014/main" id="{A2AAE40A-4F0C-4116-B168-7ECDFB0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研究范围与技术路线</a:t>
            </a:r>
          </a:p>
        </p:txBody>
      </p:sp>
      <p:sp>
        <p:nvSpPr>
          <p:cNvPr id="2" name="以一次停驻及其周围的微空间为分析单位">
            <a:extLst xmlns:a="http://schemas.openxmlformats.org/drawingml/2006/main">
              <a:ext uri="{FF2B5EF4-FFF2-40B4-BE49-F238E27FC236}">
                <a16:creationId xmlns:a16="http://schemas.microsoft.com/office/drawing/2014/main" id="{E6DE00CB-E41C-4199-87F8-A5FB499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以一次停驻及其周围的微空间为分析单位</a:t>
            </a:r>
          </a:p>
        </p:txBody>
      </p:sp>
      <p:sp>
        <p:nvSpPr>
          <p:cNvPr id="3" name="研究范围">
            <a:extLst xmlns:a="http://schemas.openxmlformats.org/drawingml/2006/main">
              <a:ext uri="{FF2B5EF4-FFF2-40B4-BE49-F238E27FC236}">
                <a16:creationId xmlns:a16="http://schemas.microsoft.com/office/drawing/2014/main" id="{1582BBAB-B2B5-4DF5-A5E5-143B8960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4" name="雁塔校区校园内的教学建筑界面、室外休憩空间、&#10;公共设">
            <a:extLst xmlns:a="http://schemas.openxmlformats.org/drawingml/2006/main">
              <a:ext uri="{FF2B5EF4-FFF2-40B4-BE49-F238E27FC236}">
                <a16:creationId xmlns:a16="http://schemas.microsoft.com/office/drawing/2014/main" id="{4AEE82E6-B631-4A31-AA33-FAA34BF3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66900"/>
            <a:ext cx="704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雁塔校区校园内的教学建筑界面、室外休憩空间、</a:t>
            </a:r>
          </a:p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公共设施节点与卫生间窗边。</a:t>
            </a:r>
          </a:p>
        </p:txBody>
      </p:sp>
      <p:sp>
        <p:nvSpPr>
          <p:cNvPr id="5" name="分析步骤">
            <a:extLst xmlns:a="http://schemas.openxmlformats.org/drawingml/2006/main">
              <a:ext uri="{FF2B5EF4-FFF2-40B4-BE49-F238E27FC236}">
                <a16:creationId xmlns:a16="http://schemas.microsoft.com/office/drawing/2014/main" id="{0E36149F-D5D3-4898-BBF5-79380035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分析步骤</a:t>
            </a:r>
          </a:p>
        </p:txBody>
      </p:sp>
      <p:sp>
        <p:nvSpPr>
          <p:cNvPr id="6" name="01 图像编码与类型比较&#10;02 提出问题，搭建解释框">
            <a:extLst xmlns:a="http://schemas.openxmlformats.org/drawingml/2006/main">
              <a:ext uri="{FF2B5EF4-FFF2-40B4-BE49-F238E27FC236}">
                <a16:creationId xmlns:a16="http://schemas.microsoft.com/office/drawing/2014/main" id="{0E0BCC9C-AD46-4D4A-86AC-1F96590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70485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01 图像编码与类型比较</a:t>
            </a:r>
          </a:p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02 提出问题，搭建解释框架</a:t>
            </a:r>
          </a:p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03 讨论形成机制，建立评价标准</a:t>
            </a:r>
          </a:p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04 提出分类型策略与复查方法</a:t>
            </a:r>
          </a:p>
        </p:txBody>
      </p:sp>
      <p:sp>
        <p:nvSpPr>
          <p:cNvPr id="7" name="证据边界">
            <a:extLst xmlns:a="http://schemas.openxmlformats.org/drawingml/2006/main">
              <a:ext uri="{FF2B5EF4-FFF2-40B4-BE49-F238E27FC236}">
                <a16:creationId xmlns:a16="http://schemas.microsoft.com/office/drawing/2014/main" id="{3E6E0EEF-E92D-4E95-9EA9-B7EF0C8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已有：4张选题照片与原有问题链。&#10;未提供：定位、时间">
            <a:extLst xmlns:a="http://schemas.openxmlformats.org/drawingml/2006/main">
              <a:ext uri="{FF2B5EF4-FFF2-40B4-BE49-F238E27FC236}">
                <a16:creationId xmlns:a16="http://schemas.microsoft.com/office/drawing/2014/main" id="{9F0C1140-95DB-4A6F-B66F-75733687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5305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已有：4张选题照片与原有问题链。</a:t>
            </a:r>
          </a:p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未提供：定位、时间、连续观察及访谈原始记录。</a:t>
            </a:r>
          </a:p>
        </p:txBody>
      </p:sp>
      <p:sp>
        <p:nvSpPr>
          <p:cNvPr id="9" name="照片按原PPT标签编码；拍摄校区、具体点位及自然观察">
            <a:extLst xmlns:a="http://schemas.openxmlformats.org/drawingml/2006/main">
              <a:ext uri="{FF2B5EF4-FFF2-40B4-BE49-F238E27FC236}">
                <a16:creationId xmlns:a16="http://schemas.microsoft.com/office/drawing/2014/main" id="{D60DCC4B-5044-4D71-9AFC-4CA6A918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照片按原PPT标签编码；拍摄校区、具体点位及自然观察属性尚未核实。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558CA3E1-61E7-431D-8A8E-221E806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7944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典型照片记录">
            <a:extLst xmlns:a="http://schemas.openxmlformats.org/drawingml/2006/main">
              <a:ext uri="{FF2B5EF4-FFF2-40B4-BE49-F238E27FC236}">
                <a16:creationId xmlns:a16="http://schemas.microsoft.com/office/drawing/2014/main" id="{6B0C8AF4-758F-479D-842E-3FEF4513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典型照片记录</a:t>
            </a:r>
          </a:p>
        </p:txBody>
      </p:sp>
      <p:sp>
        <p:nvSpPr>
          <p:cNvPr id="2" name="四类空间中的吸烟相关姿态与设施关系">
            <a:extLst xmlns:a="http://schemas.openxmlformats.org/drawingml/2006/main">
              <a:ext uri="{FF2B5EF4-FFF2-40B4-BE49-F238E27FC236}">
                <a16:creationId xmlns:a16="http://schemas.microsoft.com/office/drawing/2014/main" id="{DFEC26B1-F192-4C56-8856-925ABB05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四类空间中的吸烟相关姿态与设施关系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82b9d73ce4239"/>
          <a:stretch xmlns:a="http://schemas.openxmlformats.org/drawingml/2006/main"/>
        </p:blipFill>
        <p:spPr>
          <a:xfrm xmlns:a="http://schemas.openxmlformats.org/drawingml/2006/main">
            <a:off x="742644" y="1866900"/>
            <a:ext cx="1915136" cy="3971925"/>
          </a:xfrm>
          <a:prstGeom xmlns:a="http://schemas.openxmlformats.org/drawingml/2006/main" prst="rect">
            <a:avLst/>
          </a:prstGeom>
        </p:spPr>
      </p:pic>
      <p:sp>
        <p:nvSpPr>
          <p:cNvPr id="4" name="A  教学楼半室外边缘">
            <a:extLst xmlns:a="http://schemas.openxmlformats.org/drawingml/2006/main">
              <a:ext uri="{FF2B5EF4-FFF2-40B4-BE49-F238E27FC236}">
                <a16:creationId xmlns:a16="http://schemas.microsoft.com/office/drawing/2014/main" id="{12A70079-947A-4466-AEF1-B9EA38C6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A  教学楼半室外边缘</a:t>
            </a:r>
          </a:p>
        </p:txBody>
      </p:sp>
      <p:sp>
        <p:nvSpPr>
          <p:cNvPr id="5" name="围合界面旁站立&#10;存在实体边界">
            <a:extLst xmlns:a="http://schemas.openxmlformats.org/drawingml/2006/main">
              <a:ext uri="{FF2B5EF4-FFF2-40B4-BE49-F238E27FC236}">
                <a16:creationId xmlns:a16="http://schemas.microsoft.com/office/drawing/2014/main" id="{7F0EEB86-098D-48F0-94CC-99E52216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36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围合界面旁站立</a:t>
            </a:r>
          </a:p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存在实体边界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29e6a84ae45cf"/>
          <a:stretch xmlns:a="http://schemas.openxmlformats.org/drawingml/2006/main"/>
        </p:blipFill>
        <p:spPr>
          <a:xfrm xmlns:a="http://schemas.openxmlformats.org/drawingml/2006/main">
            <a:off x="3219920" y="1866900"/>
            <a:ext cx="1818335" cy="3971925"/>
          </a:xfrm>
          <a:prstGeom xmlns:a="http://schemas.openxmlformats.org/drawingml/2006/main" prst="rect">
            <a:avLst/>
          </a:prstGeom>
        </p:spPr>
      </p:pic>
      <p:sp>
        <p:nvSpPr>
          <p:cNvPr id="7" name="B  室外座椅空间">
            <a:extLst xmlns:a="http://schemas.openxmlformats.org/drawingml/2006/main">
              <a:ext uri="{FF2B5EF4-FFF2-40B4-BE49-F238E27FC236}">
                <a16:creationId xmlns:a16="http://schemas.microsoft.com/office/drawing/2014/main" id="{1F5E4E0C-0515-41C3-ACB9-A3346DC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9531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B  室外座椅空间</a:t>
            </a:r>
          </a:p>
        </p:txBody>
      </p:sp>
      <p:sp>
        <p:nvSpPr>
          <p:cNvPr id="8" name="遮阳伞下坐姿停留&#10;座椅支持停驻">
            <a:extLst xmlns:a="http://schemas.openxmlformats.org/drawingml/2006/main">
              <a:ext uri="{FF2B5EF4-FFF2-40B4-BE49-F238E27FC236}">
                <a16:creationId xmlns:a16="http://schemas.microsoft.com/office/drawing/2014/main" id="{07D7E8CD-8CE0-4230-BD9A-4AF1FF8C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343650"/>
            <a:ext cx="236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遮阳伞下坐姿停留</a:t>
            </a:r>
          </a:p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座椅支持停驻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4062319b8492e"/>
          <a:stretch xmlns:a="http://schemas.openxmlformats.org/drawingml/2006/main"/>
        </p:blipFill>
        <p:spPr>
          <a:xfrm xmlns:a="http://schemas.openxmlformats.org/drawingml/2006/main">
            <a:off x="5439792" y="1866900"/>
            <a:ext cx="2236342" cy="3971925"/>
          </a:xfrm>
          <a:prstGeom xmlns:a="http://schemas.openxmlformats.org/drawingml/2006/main" prst="rect">
            <a:avLst/>
          </a:prstGeom>
        </p:spPr>
      </p:pic>
      <p:sp>
        <p:nvSpPr>
          <p:cNvPr id="10" name="C  垃圾桶旁">
            <a:extLst xmlns:a="http://schemas.openxmlformats.org/drawingml/2006/main">
              <a:ext uri="{FF2B5EF4-FFF2-40B4-BE49-F238E27FC236}">
                <a16:creationId xmlns:a16="http://schemas.microsoft.com/office/drawing/2014/main" id="{6305613A-5492-42FF-A8C2-3F7FB2F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531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C  垃圾桶旁</a:t>
            </a:r>
          </a:p>
        </p:txBody>
      </p:sp>
      <p:sp>
        <p:nvSpPr>
          <p:cNvPr id="11" name="桶体旁站立&#10;设施与人物相邻">
            <a:extLst xmlns:a="http://schemas.openxmlformats.org/drawingml/2006/main">
              <a:ext uri="{FF2B5EF4-FFF2-40B4-BE49-F238E27FC236}">
                <a16:creationId xmlns:a16="http://schemas.microsoft.com/office/drawing/2014/main" id="{39C0E0FA-71BE-45BE-A242-FB6515A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343650"/>
            <a:ext cx="236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桶体旁站立</a:t>
            </a:r>
          </a:p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设施与人物相邻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a21c0d07347b4"/>
          <a:stretch xmlns:a="http://schemas.openxmlformats.org/drawingml/2006/main"/>
        </p:blipFill>
        <p:spPr>
          <a:xfrm xmlns:a="http://schemas.openxmlformats.org/drawingml/2006/main">
            <a:off x="8073295" y="1866900"/>
            <a:ext cx="1827086" cy="3971925"/>
          </a:xfrm>
          <a:prstGeom xmlns:a="http://schemas.openxmlformats.org/drawingml/2006/main" prst="rect">
            <a:avLst/>
          </a:prstGeom>
        </p:spPr>
      </p:pic>
      <p:sp>
        <p:nvSpPr>
          <p:cNvPr id="13" name="D  卫生间窗边">
            <a:extLst xmlns:a="http://schemas.openxmlformats.org/drawingml/2006/main">
              <a:ext uri="{FF2B5EF4-FFF2-40B4-BE49-F238E27FC236}">
                <a16:creationId xmlns:a16="http://schemas.microsoft.com/office/drawing/2014/main" id="{3412C09D-9083-4EDA-8EAF-BA808F2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9531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D  卫生间窗边</a:t>
            </a:r>
          </a:p>
        </p:txBody>
      </p:sp>
      <p:sp>
        <p:nvSpPr>
          <p:cNvPr id="14" name="室内窗边站立&#10;靠近室内外界面">
            <a:extLst xmlns:a="http://schemas.openxmlformats.org/drawingml/2006/main">
              <a:ext uri="{FF2B5EF4-FFF2-40B4-BE49-F238E27FC236}">
                <a16:creationId xmlns:a16="http://schemas.microsoft.com/office/drawing/2014/main" id="{E62015FE-97B7-4FDB-810C-65B96D8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6343650"/>
            <a:ext cx="2362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室内窗边站立</a:t>
            </a:r>
          </a:p>
          <a:p xmlns:a="http://schemas.openxmlformats.org/drawingml/2006/main">
            <a:pPr>
              <a:def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靠近室内外界面</a:t>
            </a:r>
          </a:p>
        </p:txBody>
      </p:sp>
      <p:sp>
        <p:nvSpPr>
          <p:cNvPr id="15" name="图像来源：原选题PPT。保留原图遮挡；4张照片不等于">
            <a:extLst xmlns:a="http://schemas.openxmlformats.org/drawingml/2006/main">
              <a:ext uri="{FF2B5EF4-FFF2-40B4-BE49-F238E27FC236}">
                <a16:creationId xmlns:a16="http://schemas.microsoft.com/office/drawing/2014/main" id="{2821C7D1-C48F-4E19-A695-300A472F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图像来源：原选题PPT。保留原图遮挡；4张照片不等于4个独立样本或稳定吸烟点。</a:t>
            </a:r>
          </a:p>
        </p:txBody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0FDA9474-6D7B-4DFE-906A-B379DD54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3858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现象分析：设施与停留叠加">
            <a:extLst xmlns:a="http://schemas.openxmlformats.org/drawingml/2006/main">
              <a:ext uri="{FF2B5EF4-FFF2-40B4-BE49-F238E27FC236}">
                <a16:creationId xmlns:a16="http://schemas.microsoft.com/office/drawing/2014/main" id="{432F68F9-A3F1-4F2E-A975-1FF43448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现象分析：设施与停留叠加</a:t>
            </a:r>
          </a:p>
        </p:txBody>
      </p:sp>
      <p:sp>
        <p:nvSpPr>
          <p:cNvPr id="2" name="直接观察描述空间关系，行为动机留待验证">
            <a:extLst xmlns:a="http://schemas.openxmlformats.org/drawingml/2006/main">
              <a:ext uri="{FF2B5EF4-FFF2-40B4-BE49-F238E27FC236}">
                <a16:creationId xmlns:a16="http://schemas.microsoft.com/office/drawing/2014/main" id="{0DF0062F-2576-428B-90E7-B4C7B7D0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直接观察描述空间关系，行为动机留待验证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19300"/>
          <a:ext xmlns:a="http://schemas.openxmlformats.org/drawingml/2006/main" cx="954405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857500"/>
                <a:gridCol w="2743200"/>
                <a:gridCol w="268605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照片可见的空间关系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解释性推论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尚不能判断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边缘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墙体、栏板围合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人物贴近边界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边缘可能提供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短暂停靠条件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是否课间使用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是否阻挡通行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座椅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坐姿与座椅、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遮阳设施结合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舒适条件可能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延长停留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实际停留时长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是否结伴交流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桶旁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人物与垃圾桶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处于同一节点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设施可成为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位置识别线索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是否因弃烟选址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是否实际弃烟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838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窗边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人物位于室内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并靠近窗户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可能与通风想象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或可见性有关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实际选择动机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烟雾扩散方向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</a:tbl>
          </a:graphicData>
        </a:graphic>
      </p:graphicFrame>
      <p:sp>
        <p:nvSpPr>
          <p:cNvPr id="4" name="共同线索：吸烟相关行为借用了原有设施与界面，&#10;形成附">
            <a:extLst xmlns:a="http://schemas.openxmlformats.org/drawingml/2006/main">
              <a:ext uri="{FF2B5EF4-FFF2-40B4-BE49-F238E27FC236}">
                <a16:creationId xmlns:a16="http://schemas.microsoft.com/office/drawing/2014/main" id="{21DF0FB7-5B16-449E-B01B-7C9B6BF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544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共同线索：吸烟相关行为借用了原有设施与界面，</a:t>
            </a:r>
          </a:p>
          <a:p xmlns:a="http://schemas.openxmlformats.org/drawingml/2006/main">
            <a:pPr>
              <a:defRPr sz="202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形成附加使用情境；稳定性与普遍性仍需重复观察。</a:t>
            </a:r>
          </a:p>
        </p:txBody>
      </p:sp>
      <p:sp>
        <p:nvSpPr>
          <p:cNvPr id="5" name="上述推论属于本研究的解释，未由受访者陈述或连续观察证">
            <a:extLst xmlns:a="http://schemas.openxmlformats.org/drawingml/2006/main">
              <a:ext uri="{FF2B5EF4-FFF2-40B4-BE49-F238E27FC236}">
                <a16:creationId xmlns:a16="http://schemas.microsoft.com/office/drawing/2014/main" id="{54ABEAB6-1B34-4930-A143-1B3051F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上述推论属于本研究的解释，未由受访者陈述或连续观察证实。</a:t>
            </a:r>
          </a:p>
        </p:txBody>
      </p:sp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38BC4368-AF00-4A6A-9DE9-1B587A3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6766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问题提出：谁能使用同一空间">
            <a:extLst xmlns:a="http://schemas.openxmlformats.org/drawingml/2006/main">
              <a:ext uri="{FF2B5EF4-FFF2-40B4-BE49-F238E27FC236}">
                <a16:creationId xmlns:a16="http://schemas.microsoft.com/office/drawing/2014/main" id="{0764A191-E481-48EA-A25D-2E899FB3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问题提出：谁能使用同一空间</a:t>
            </a:r>
          </a:p>
        </p:txBody>
      </p:sp>
      <p:sp>
        <p:nvSpPr>
          <p:cNvPr id="2" name="以公共性检视停驻行为与共享空间的关系">
            <a:extLst xmlns:a="http://schemas.openxmlformats.org/drawingml/2006/main">
              <a:ext uri="{FF2B5EF4-FFF2-40B4-BE49-F238E27FC236}">
                <a16:creationId xmlns:a16="http://schemas.microsoft.com/office/drawing/2014/main" id="{DDD84804-E0F2-438F-B10E-D51E797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以公共性检视停驻行为与共享空间的关系</a:t>
            </a:r>
          </a:p>
        </p:txBody>
      </p:sp>
      <p:sp>
        <p:nvSpPr>
          <p:cNvPr id="3" name="01  选择问题">
            <a:extLst xmlns:a="http://schemas.openxmlformats.org/drawingml/2006/main">
              <a:ext uri="{FF2B5EF4-FFF2-40B4-BE49-F238E27FC236}">
                <a16:creationId xmlns:a16="http://schemas.microsoft.com/office/drawing/2014/main" id="{D18CCA24-6BD6-40C6-A5D6-A5AD2347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01  选择问题</a:t>
            </a:r>
          </a:p>
        </p:txBody>
      </p:sp>
      <p:sp>
        <p:nvSpPr>
          <p:cNvPr id="4" name="什么条件使某处被选择？&#10;比较可达性、可停留性&#10;与被他">
            <a:extLst xmlns:a="http://schemas.openxmlformats.org/drawingml/2006/main">
              <a:ext uri="{FF2B5EF4-FFF2-40B4-BE49-F238E27FC236}">
                <a16:creationId xmlns:a16="http://schemas.microsoft.com/office/drawing/2014/main" id="{FAE76010-CFF2-4214-B6FF-769DD12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什么条件使某处被选择？</a:t>
            </a:r>
          </a:p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比较可达性、可停留性</a:t>
            </a:r>
          </a:p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与被他人看见的程度。</a:t>
            </a:r>
          </a:p>
        </p:txBody>
      </p:sp>
      <p:sp>
        <p:nvSpPr>
          <p:cNvPr id="5" name="02  固定化问题">
            <a:extLst xmlns:a="http://schemas.openxmlformats.org/drawingml/2006/main">
              <a:ext uri="{FF2B5EF4-FFF2-40B4-BE49-F238E27FC236}">
                <a16:creationId xmlns:a16="http://schemas.microsoft.com/office/drawing/2014/main" id="{86910A7C-D9EC-499F-97A7-FDA91F92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859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02  固定化问题</a:t>
            </a:r>
          </a:p>
        </p:txBody>
      </p:sp>
      <p:sp>
        <p:nvSpPr>
          <p:cNvPr id="6" name="停驻怎样成为惯常使用？&#10;检验重复出现、同伴跟随&#10;与默">
            <a:extLst xmlns:a="http://schemas.openxmlformats.org/drawingml/2006/main">
              <a:ext uri="{FF2B5EF4-FFF2-40B4-BE49-F238E27FC236}">
                <a16:creationId xmlns:a16="http://schemas.microsoft.com/office/drawing/2014/main" id="{5FDC08FF-F96F-4B8E-B949-1D3483C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62225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停驻怎样成为惯常使用？</a:t>
            </a:r>
          </a:p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检验重复出现、同伴跟随</a:t>
            </a:r>
          </a:p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与默认使用规则。</a:t>
            </a:r>
          </a:p>
        </p:txBody>
      </p:sp>
      <p:sp>
        <p:nvSpPr>
          <p:cNvPr id="7" name="03  冲突问题">
            <a:extLst xmlns:a="http://schemas.openxmlformats.org/drawingml/2006/main">
              <a:ext uri="{FF2B5EF4-FFF2-40B4-BE49-F238E27FC236}">
                <a16:creationId xmlns:a16="http://schemas.microsoft.com/office/drawing/2014/main" id="{A6472EA1-CC08-4C6B-8A0B-083067B5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859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03  冲突问题</a:t>
            </a:r>
          </a:p>
        </p:txBody>
      </p:sp>
      <p:sp>
        <p:nvSpPr>
          <p:cNvPr id="8" name="谁需要避让或承受干扰？&#10;同时观察通行者、休息者&#10;与日">
            <a:extLst xmlns:a="http://schemas.openxmlformats.org/drawingml/2006/main">
              <a:ext uri="{FF2B5EF4-FFF2-40B4-BE49-F238E27FC236}">
                <a16:creationId xmlns:a16="http://schemas.microsoft.com/office/drawing/2014/main" id="{A0286A2F-A670-4517-B691-B51F2304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62225"/>
            <a:ext cx="2895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谁需要避让或承受干扰？</a:t>
            </a:r>
          </a:p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同时观察通行者、休息者</a:t>
            </a:r>
          </a:p>
          <a:p xmlns:a="http://schemas.openxmlformats.org/drawingml/2006/main">
            <a:pPr>
              <a:def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与日常管理人员。</a:t>
            </a:r>
          </a:p>
        </p:txBody>
      </p:sp>
      <p:sp>
        <p:nvSpPr>
          <p:cNvPr id="9" name="公共性评价的核心">
            <a:extLst xmlns:a="http://schemas.openxmlformats.org/drawingml/2006/main">
              <a:ext uri="{FF2B5EF4-FFF2-40B4-BE49-F238E27FC236}">
                <a16:creationId xmlns:a16="http://schemas.microsoft.com/office/drawing/2014/main" id="{C191BA45-D1EE-41F7-931E-AFAF8F6D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公共性评价的核心</a:t>
            </a:r>
          </a:p>
        </p:txBody>
      </p:sp>
      <p:sp>
        <p:nvSpPr>
          <p:cNvPr id="10" name="他人是否仍能正常通行、坐下休息和使用卫生设施，&#10;并有">
            <a:extLst xmlns:a="http://schemas.openxmlformats.org/drawingml/2006/main">
              <a:ext uri="{FF2B5EF4-FFF2-40B4-BE49-F238E27FC236}">
                <a16:creationId xmlns:a16="http://schemas.microsoft.com/office/drawing/2014/main" id="{EB3392A6-072F-45FF-ACF2-22B6D21B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9544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他人是否仍能正常通行、坐下休息和使用卫生设施，</a:t>
            </a:r>
          </a:p>
          <a:p xmlns:a="http://schemas.openxmlformats.org/drawingml/2006/main">
            <a:pPr>
              <a:defRPr sz="24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并有不受烟雾干扰的选择。</a:t>
            </a:r>
          </a:p>
        </p:txBody>
      </p:sp>
      <p:sp>
        <p:nvSpPr>
          <p:cNvPr id="11" name="不同群体的需求为分析维度，并非已完成的访谈结果。">
            <a:extLst xmlns:a="http://schemas.openxmlformats.org/drawingml/2006/main">
              <a:ext uri="{FF2B5EF4-FFF2-40B4-BE49-F238E27FC236}">
                <a16:creationId xmlns:a16="http://schemas.microsoft.com/office/drawing/2014/main" id="{0AFCF3F8-A41A-408C-BB0B-C446477C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不同群体的需求为分析维度，并非已完成的访谈结果。</a:t>
            </a:r>
          </a:p>
        </p:txBody>
      </p:sp>
      <p:sp>
        <p:nvSpPr>
          <p:cNvPr id="12" name="05">
            <a:extLst xmlns:a="http://schemas.openxmlformats.org/drawingml/2006/main">
              <a:ext uri="{FF2B5EF4-FFF2-40B4-BE49-F238E27FC236}">
                <a16:creationId xmlns:a16="http://schemas.microsoft.com/office/drawing/2014/main" id="{30849F79-67E7-4187-9BC3-F5246E0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6155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研究框架：空间、实践与规则">
            <a:extLst xmlns:a="http://schemas.openxmlformats.org/drawingml/2006/main">
              <a:ext uri="{FF2B5EF4-FFF2-40B4-BE49-F238E27FC236}">
                <a16:creationId xmlns:a16="http://schemas.microsoft.com/office/drawing/2014/main" id="{0D5E1E14-3AE6-4A3D-A1E1-A9250240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研究框架：空间、实践与规则</a:t>
            </a:r>
          </a:p>
        </p:txBody>
      </p:sp>
      <p:sp>
        <p:nvSpPr>
          <p:cNvPr id="2" name="把空间生产视角转化为可观察、可追问的问题">
            <a:extLst xmlns:a="http://schemas.openxmlformats.org/drawingml/2006/main">
              <a:ext uri="{FF2B5EF4-FFF2-40B4-BE49-F238E27FC236}">
                <a16:creationId xmlns:a16="http://schemas.microsoft.com/office/drawing/2014/main" id="{4D007E78-BD9B-4630-90D6-F7C5EC6D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把空间生产视角转化为可观察、可追问的问题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954405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3743325"/>
                <a:gridCol w="4143375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分析层面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本研究关注什么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需要怎样的证据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</a:tr>
              <a:tr h="965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物质空间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边界、座椅、窗、桶体</a:t>
                      </a:r>
                    </a:p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以及与日常路径的关系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现场定位、照片、尺寸与路径记录</a:t>
                      </a:r>
                    </a:p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比较有无停驻的相似空间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965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日常实践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坐立姿态、停留时长</a:t>
                      </a:r>
                    </a:p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重复出现与同伴互动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定点分时段观察</a:t>
                      </a:r>
                    </a:p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记录独立事件，避免重复计数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  <a:tr h="965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规则与体验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正式禁烟要求、标识</a:t>
                      </a:r>
                    </a:p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使用者理解及他人感受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核对校规与现场标识</a:t>
                      </a:r>
                    </a:p>
                    <a:p>
                      <a:r>
                        <a:rPr sz="1800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分别访谈吸烟者、非吸烟者、管理者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4" name="分析命题">
            <a:extLst xmlns:a="http://schemas.openxmlformats.org/drawingml/2006/main">
              <a:ext uri="{FF2B5EF4-FFF2-40B4-BE49-F238E27FC236}">
                <a16:creationId xmlns:a16="http://schemas.microsoft.com/office/drawing/2014/main" id="{3E9D2C4D-B48D-415A-8B5D-68991C54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分析命题</a:t>
            </a:r>
          </a:p>
        </p:txBody>
      </p:sp>
      <p:sp>
        <p:nvSpPr>
          <p:cNvPr id="5" name="空间条件与规则理解共同影响选择；重复实践可能&#10;赋予点">
            <a:extLst xmlns:a="http://schemas.openxmlformats.org/drawingml/2006/main">
              <a:ext uri="{FF2B5EF4-FFF2-40B4-BE49-F238E27FC236}">
                <a16:creationId xmlns:a16="http://schemas.microsoft.com/office/drawing/2014/main" id="{259EC04B-EDA7-44C7-ABC3-0DBD7B1E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15000"/>
            <a:ext cx="7486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空间条件与规则理解共同影响选择；重复实践可能</a:t>
            </a:r>
          </a:p>
          <a:p xmlns:a="http://schemas.openxmlformats.org/drawingml/2006/main">
            <a:pPr>
              <a:def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赋予点位新的使用意义，并改变他人的使用机会。</a:t>
            </a:r>
          </a:p>
        </p:txBody>
      </p:sp>
      <p:sp>
        <p:nvSpPr>
          <p:cNvPr id="6" name="理论依据：Lefebvre（1991）；方法参考：W">
            <a:extLst xmlns:a="http://schemas.openxmlformats.org/drawingml/2006/main">
              <a:ext uri="{FF2B5EF4-FFF2-40B4-BE49-F238E27FC236}">
                <a16:creationId xmlns:a16="http://schemas.microsoft.com/office/drawing/2014/main" id="{842AD35D-AA2C-4E9A-83B0-D7C153DC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理论依据：Lefebvre（1991）；方法参考：Whyte（1980）。本表为课程研究的操作化框架。</a:t>
            </a:r>
          </a:p>
        </p:txBody>
      </p:sp>
      <p:sp>
        <p:nvSpPr>
          <p:cNvPr id="7" name="06">
            <a:extLst xmlns:a="http://schemas.openxmlformats.org/drawingml/2006/main">
              <a:ext uri="{FF2B5EF4-FFF2-40B4-BE49-F238E27FC236}">
                <a16:creationId xmlns:a16="http://schemas.microsoft.com/office/drawing/2014/main" id="{7D6827EC-4F33-4B63-BC0D-6607A52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6309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深层机制：三项待检验解释">
            <a:extLst xmlns:a="http://schemas.openxmlformats.org/drawingml/2006/main">
              <a:ext uri="{FF2B5EF4-FFF2-40B4-BE49-F238E27FC236}">
                <a16:creationId xmlns:a16="http://schemas.microsoft.com/office/drawing/2014/main" id="{D090CEB7-AB50-474A-A5FA-7A8927DF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深层机制：三项待检验解释</a:t>
            </a:r>
          </a:p>
        </p:txBody>
      </p:sp>
      <p:sp>
        <p:nvSpPr>
          <p:cNvPr id="2" name="形成机制采用竞争解释，避免把单次图像当作因果证据">
            <a:extLst xmlns:a="http://schemas.openxmlformats.org/drawingml/2006/main">
              <a:ext uri="{FF2B5EF4-FFF2-40B4-BE49-F238E27FC236}">
                <a16:creationId xmlns:a16="http://schemas.microsoft.com/office/drawing/2014/main" id="{3CAB6CD4-5E10-4EB6-882B-621CF915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形成机制采用竞争解释，避免把单次图像当作因果证据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954405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81350"/>
                <a:gridCol w="3181350"/>
                <a:gridCol w="318135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机制假设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如何验证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替代解释或反证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 日常活动的距离成本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便利条件影响点位选择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比较到教学、生活目的地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距离相近的不同空间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追问出发地与选址原因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可能只是偶然停下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或可用座椅的影响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近距离本身不能解释一切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 重复使用的示范效应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他人出现强化点位认知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多时段记录是否重复使用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追问第一次如何找到此处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区分独处与结伴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同伴并未引导选址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点位使用频繁也可能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仅由共同便利条件造成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 规则理解存在偏差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边界模糊影响行为判断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核对规定与标识位置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询问“这里是否允许”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比对知晓规则后的行为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知道禁烟仍然吸烟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可能涉及习惯或执行预期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不能只归因于缺少标识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4" name="现有证据只提供空间线索。&#10;“重复停留—互动规则—非正">
            <a:extLst xmlns:a="http://schemas.openxmlformats.org/drawingml/2006/main">
              <a:ext uri="{FF2B5EF4-FFF2-40B4-BE49-F238E27FC236}">
                <a16:creationId xmlns:a16="http://schemas.microsoft.com/office/drawing/2014/main" id="{7C13EBC8-67CD-43EA-9E53-3F0DCE3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9544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现有证据只提供空间线索。</a:t>
            </a:r>
          </a:p>
          <a:p xmlns:a="http://schemas.openxmlformats.org/drawingml/2006/main">
            <a:pPr>
              <a:def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“重复停留—互动规则—非正式点位”是待检验过程。</a:t>
            </a:r>
          </a:p>
        </p:txBody>
      </p:sp>
      <p:sp>
        <p:nvSpPr>
          <p:cNvPr id="5" name="本页为机制推演；尚未完成连续观察、访谈或前后对照。">
            <a:extLst xmlns:a="http://schemas.openxmlformats.org/drawingml/2006/main">
              <a:ext uri="{FF2B5EF4-FFF2-40B4-BE49-F238E27FC236}">
                <a16:creationId xmlns:a16="http://schemas.microsoft.com/office/drawing/2014/main" id="{1F0A54FA-AFAA-4476-ABDB-DB6F5AA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本页为机制推演；尚未完成连续观察、访谈或前后对照。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68FAB879-7AAF-4E96-8E2C-0E57512B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9526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空间评价：先判边界，再看冲突">
            <a:extLst xmlns:a="http://schemas.openxmlformats.org/drawingml/2006/main">
              <a:ext uri="{FF2B5EF4-FFF2-40B4-BE49-F238E27FC236}">
                <a16:creationId xmlns:a16="http://schemas.microsoft.com/office/drawing/2014/main" id="{780D8C60-8E7D-4164-A4D5-066388D3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空间评价：先判边界，再看冲突</a:t>
            </a:r>
          </a:p>
        </p:txBody>
      </p:sp>
      <p:sp>
        <p:nvSpPr>
          <p:cNvPr id="2" name="采用条件判断；缺少数据的项目保留为“待核”">
            <a:extLst xmlns:a="http://schemas.openxmlformats.org/drawingml/2006/main">
              <a:ext uri="{FF2B5EF4-FFF2-40B4-BE49-F238E27FC236}">
                <a16:creationId xmlns:a16="http://schemas.microsoft.com/office/drawing/2014/main" id="{64F32F42-2308-4F1A-A37D-110431B6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采用条件判断；缺少数据的项目保留为“待核”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954405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0675"/>
                <a:gridCol w="2857500"/>
                <a:gridCol w="2857500"/>
                <a:gridCol w="2238375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评价对象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当前可作出的判断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需补证的关键项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处置逻辑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卫生间窗边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室内吸烟场景与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高校建筑物内禁烟要求冲突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现场标识、反馈机制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具体点位与管理责任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优先核查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并制止室内吸烟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半室外边缘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开放程度不等于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已取得吸烟许可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建筑边界、门窗位置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高峰通行与停驻关系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明确规则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保障出入口与通行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室外座椅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存在共享休息设施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可分析用途叠加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他人座椅使用情况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避让、离开与实际感受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保留休息功能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减少使用冲突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828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垃圾桶旁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桶体与人物相邻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不能判定其为吸烟设施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桶体用途、烟头来源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清扫周期与通行关系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核查设施布置</a:t>
                      </a:r>
                    </a:p>
                    <a:p>
                      <a:r>
                        <a:rPr sz="157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清洁与使用引导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</a:tbl>
          </a:graphicData>
        </a:graphic>
      </p:graphicFrame>
      <p:sp>
        <p:nvSpPr>
          <p:cNvPr id="4" name="评价顺序：规则边界、公共使用冲突、维护条件、停留体验">
            <a:extLst xmlns:a="http://schemas.openxmlformats.org/drawingml/2006/main">
              <a:ext uri="{FF2B5EF4-FFF2-40B4-BE49-F238E27FC236}">
                <a16:creationId xmlns:a16="http://schemas.microsoft.com/office/drawing/2014/main" id="{8104CA83-2B27-4515-A292-429178A7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95440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评价顺序：规则边界、公共使用冲突、维护条件、停留体验。</a:t>
            </a:r>
          </a:p>
          <a:p xmlns:a="http://schemas.openxmlformats.org/drawingml/2006/main">
            <a:pPr>
              <a:def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未测烟雾浓度与风向，不作暴露量或“安全距离”判断。</a:t>
            </a:r>
          </a:p>
        </p:txBody>
      </p:sp>
      <p:sp>
        <p:nvSpPr>
          <p:cNvPr id="5" name="政策依据：教育部教基一函〔2014〕1号。具体实施还">
            <a:extLst xmlns:a="http://schemas.openxmlformats.org/drawingml/2006/main">
              <a:ext uri="{FF2B5EF4-FFF2-40B4-BE49-F238E27FC236}">
                <a16:creationId xmlns:a16="http://schemas.microsoft.com/office/drawing/2014/main" id="{69C8C606-1420-4D7F-B814-7666E9E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政策依据：教育部教基一函〔2014〕1号。具体实施还需核对学校现行规定。</a:t>
            </a:r>
          </a:p>
        </p:txBody>
      </p:sp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0BA2D0C9-D67E-4E15-AE82-19AA8893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1785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优化策略：保障正常使用与无烟休憩">
            <a:extLst xmlns:a="http://schemas.openxmlformats.org/drawingml/2006/main">
              <a:ext uri="{FF2B5EF4-FFF2-40B4-BE49-F238E27FC236}">
                <a16:creationId xmlns:a16="http://schemas.microsoft.com/office/drawing/2014/main" id="{3BB50C30-9469-4547-82AC-33013861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优化策略：保障正常使用与无烟休憩</a:t>
            </a:r>
          </a:p>
        </p:txBody>
      </p:sp>
      <p:sp>
        <p:nvSpPr>
          <p:cNvPr id="2" name="按场景调整设施与管理，并以同点复查检验效果">
            <a:extLst xmlns:a="http://schemas.openxmlformats.org/drawingml/2006/main">
              <a:ext uri="{FF2B5EF4-FFF2-40B4-BE49-F238E27FC236}">
                <a16:creationId xmlns:a16="http://schemas.microsoft.com/office/drawing/2014/main" id="{A29B4673-444D-4427-85A9-3E5F3D64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按场景调整设施与管理，并以同点复查检验效果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62150"/>
          <a:ext xmlns:a="http://schemas.openxmlformats.org/drawingml/2006/main" cx="954405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5191125"/>
                <a:gridCol w="278130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空间与管理措施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复查什么</a:t>
                      </a:r>
                    </a:p>
                  </a:txBody>
                  <a:tcPr marL="114300" marR="114300" marT="85725" marB="85725" anchor="ctr">
                    <a:solidFill>
                      <a:srgbClr val="263E3D"/>
                    </a:solidFill>
                  </a:tcPr>
                </a:tc>
              </a:tr>
              <a:tr h="8524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室内窗边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在入口与易停留处明确禁烟要求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建立劝阻、反馈和巡查衔接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同等观察时长内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室内吸烟事件是否减少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8524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半室外界面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核实建筑边界与校规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保障门窗、出入口和连续通行空间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门窗旁停驻是否转移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是否出现新的通行冲突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  <a:tr h="8524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室外座椅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保留座椅与遮阳的正常休息功能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明确无烟使用，提供替代休息选择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非吸烟者能否正常使用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是否仍有回避与离开</a:t>
                      </a:r>
                    </a:p>
                  </a:txBody>
                  <a:tcPr marL="114300" marR="114300" marT="85725" marB="85725" anchor="ctr">
                    <a:solidFill>
                      <a:srgbClr val="F6F3EB"/>
                    </a:solidFill>
                  </a:tcPr>
                </a:tc>
              </a:tr>
              <a:tr h="8524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桶旁节点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核查垃圾桶与路径、座椅的关系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清理遗留烟头，避免形成许可暗示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烟头记录与清扫周期</a:t>
                      </a:r>
                    </a:p>
                    <a:p>
                      <a:r>
                        <a:rPr sz="1725" b="0">
                          <a:solidFill>
                            <a:srgbClr val="263E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相邻点位是否出现转移</a:t>
                      </a:r>
                    </a:p>
                  </a:txBody>
                  <a:tcPr marL="114300" marR="114300" marT="85725" marB="85725" anchor="ctr">
                    <a:solidFill>
                      <a:srgbClr val="EBEDE4"/>
                    </a:solidFill>
                  </a:tcPr>
                </a:tc>
              </a:tr>
            </a:tbl>
          </a:graphicData>
        </a:graphic>
      </p:graphicFrame>
      <p:sp>
        <p:nvSpPr>
          <p:cNvPr id="4" name="建议由相关管理部门、校医院和师生共同推进。&#10;另提供戒">
            <a:extLst xmlns:a="http://schemas.openxmlformats.org/drawingml/2006/main">
              <a:ext uri="{FF2B5EF4-FFF2-40B4-BE49-F238E27FC236}">
                <a16:creationId xmlns:a16="http://schemas.microsoft.com/office/drawing/2014/main" id="{9CD03682-FF85-4E43-8B0B-C35E14D6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38875"/>
            <a:ext cx="9544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建议由相关管理部门、校医院和师生共同推进。</a:t>
            </a:r>
          </a:p>
          <a:p xmlns:a="http://schemas.openxmlformats.org/drawingml/2006/main">
            <a:pPr>
              <a:def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另提供戒烟支持信息；室外吸烟点不作为本方案默认措施。</a:t>
            </a:r>
          </a:p>
        </p:txBody>
      </p:sp>
      <p:sp>
        <p:nvSpPr>
          <p:cNvPr id="5" name="设计建议，尚未实施。前后比较须保持时段、观察时长及记">
            <a:extLst xmlns:a="http://schemas.openxmlformats.org/drawingml/2006/main">
              <a:ext uri="{FF2B5EF4-FFF2-40B4-BE49-F238E27FC236}">
                <a16:creationId xmlns:a16="http://schemas.microsoft.com/office/drawing/2014/main" id="{5368DC2A-02D3-4094-AE7B-68EC1B77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设计建议，尚未实施。前后比较须保持时段、观察时长及记录口径一致。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B86F5E96-0619-412B-8291-31BE1EE0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5594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结论与研究边界">
            <a:extLst xmlns:a="http://schemas.openxmlformats.org/drawingml/2006/main">
              <a:ext uri="{FF2B5EF4-FFF2-40B4-BE49-F238E27FC236}">
                <a16:creationId xmlns:a16="http://schemas.microsoft.com/office/drawing/2014/main" id="{88207EB8-7635-43A1-A4C5-5835C2E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结论与研究边界</a:t>
            </a:r>
          </a:p>
        </p:txBody>
      </p:sp>
      <p:sp>
        <p:nvSpPr>
          <p:cNvPr id="2" name="让空间评价回到每个人能否正常使用校园">
            <a:extLst xmlns:a="http://schemas.openxmlformats.org/drawingml/2006/main">
              <a:ext uri="{FF2B5EF4-FFF2-40B4-BE49-F238E27FC236}">
                <a16:creationId xmlns:a16="http://schemas.microsoft.com/office/drawing/2014/main" id="{EA558E45-DE51-42D3-BFA0-BDC7965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47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让空间评价回到每个人能否正常使用校园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AACC9172-71EE-4743-A971-7D46EAF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停驻借用既有空间条件">
            <a:extLst xmlns:a="http://schemas.openxmlformats.org/drawingml/2006/main">
              <a:ext uri="{FF2B5EF4-FFF2-40B4-BE49-F238E27FC236}">
                <a16:creationId xmlns:a16="http://schemas.microsoft.com/office/drawing/2014/main" id="{536BBF5D-BCD9-470F-A961-104E39A1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876425"/>
            <a:ext cx="8601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停驻借用既有空间条件</a:t>
            </a:r>
          </a:p>
        </p:txBody>
      </p:sp>
      <p:sp>
        <p:nvSpPr>
          <p:cNvPr id="5" name="选题图像呈现了吸烟相关行为与边界、座椅、设施和窗边的">
            <a:extLst xmlns:a="http://schemas.openxmlformats.org/drawingml/2006/main">
              <a:ext uri="{FF2B5EF4-FFF2-40B4-BE49-F238E27FC236}">
                <a16:creationId xmlns:a16="http://schemas.microsoft.com/office/drawing/2014/main" id="{21B5830F-D2A1-4222-A5E7-97906579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381250"/>
            <a:ext cx="86010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选题图像呈现了吸烟相关行为与边界、座椅、设施和窗边的叠加。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5DE05724-8EA0-455F-B686-8DF84240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稳定点位的形成仍需验证">
            <a:extLst xmlns:a="http://schemas.openxmlformats.org/drawingml/2006/main">
              <a:ext uri="{FF2B5EF4-FFF2-40B4-BE49-F238E27FC236}">
                <a16:creationId xmlns:a16="http://schemas.microsoft.com/office/drawing/2014/main" id="{0B166973-F803-4D62-8DB2-84F3A5CE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33750"/>
            <a:ext cx="8601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稳定点位的形成仍需验证</a:t>
            </a:r>
          </a:p>
        </p:txBody>
      </p:sp>
      <p:sp>
        <p:nvSpPr>
          <p:cNvPr id="8" name="重复使用、互动规则和选址动机需要连续观察与访谈支撑。">
            <a:extLst xmlns:a="http://schemas.openxmlformats.org/drawingml/2006/main">
              <a:ext uri="{FF2B5EF4-FFF2-40B4-BE49-F238E27FC236}">
                <a16:creationId xmlns:a16="http://schemas.microsoft.com/office/drawing/2014/main" id="{5603F515-7D61-47AB-9783-E2D8ED29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38575"/>
            <a:ext cx="86010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重复使用、互动规则和选址动机需要连续观察与访谈支撑。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44427FD-803B-4FF4-A860-A588951C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优化以公共使用机会为评价依据">
            <a:extLst xmlns:a="http://schemas.openxmlformats.org/drawingml/2006/main">
              <a:ext uri="{FF2B5EF4-FFF2-40B4-BE49-F238E27FC236}">
                <a16:creationId xmlns:a16="http://schemas.microsoft.com/office/drawing/2014/main" id="{518CD320-25F9-4649-9162-09819C74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00600"/>
            <a:ext cx="8601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优化以公共使用机会为评价依据</a:t>
            </a:r>
          </a:p>
        </p:txBody>
      </p:sp>
      <p:sp>
        <p:nvSpPr>
          <p:cNvPr id="11" name="优先处理室内吸烟与通行冲突，同时保留无烟休憩条件。">
            <a:extLst xmlns:a="http://schemas.openxmlformats.org/drawingml/2006/main">
              <a:ext uri="{FF2B5EF4-FFF2-40B4-BE49-F238E27FC236}">
                <a16:creationId xmlns:a16="http://schemas.microsoft.com/office/drawing/2014/main" id="{5A302EB6-37CD-47BC-872F-87B2092A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305425"/>
            <a:ext cx="86010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优先处理室内吸烟与通行冲突，同时保留无烟休憩条件。</a:t>
            </a:r>
          </a:p>
        </p:txBody>
      </p:sp>
      <p:sp>
        <p:nvSpPr>
          <p:cNvPr id="12" name="材料与参考：选题PPT；课程要求；Lefebvre（">
            <a:extLst xmlns:a="http://schemas.openxmlformats.org/drawingml/2006/main">
              <a:ext uri="{FF2B5EF4-FFF2-40B4-BE49-F238E27FC236}">
                <a16:creationId xmlns:a16="http://schemas.microsoft.com/office/drawing/2014/main" id="{09F2C239-3694-48F7-9537-1EC67134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544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材料与参考：选题PPT；课程要求；Lefebvre（1991）；Whyte（1980）；</a:t>
            </a:r>
          </a:p>
          <a:p xmlns:a="http://schemas.openxmlformats.org/drawingml/2006/main">
            <a:pPr>
              <a:defRPr sz="13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E3D"/>
                </a:solidFill>
                <a:latin typeface="Microsoft YaHei"/>
                <a:ea typeface="Microsoft YaHei"/>
                <a:cs typeface="Microsoft YaHei"/>
              </a:rPr>
              <a:t>教育部禁烟通知（2014）；无烟学校建设通知（2020）。完整出处见附册。</a:t>
            </a:r>
          </a:p>
        </p:txBody>
      </p:sp>
      <p:sp>
        <p:nvSpPr>
          <p:cNvPr id="13" name="本成果为图像定性分析与策略推演，尚不构成雁塔校区吸烟">
            <a:extLst xmlns:a="http://schemas.openxmlformats.org/drawingml/2006/main">
              <a:ext uri="{FF2B5EF4-FFF2-40B4-BE49-F238E27FC236}">
                <a16:creationId xmlns:a16="http://schemas.microsoft.com/office/drawing/2014/main" id="{E351FABC-71B8-4141-B175-C179BBF9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本成果为图像定性分析与策略推演，尚不构成雁塔校区吸烟状况的完整实证结论。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53BFC3BF-7605-4EAB-BBFC-6018CD82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13E3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1546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2026-09-21T08:42:40.1780000Z</dcterms:created>
  <dcterms:modified xsi:type="dcterms:W3CDTF">2026-09-21T08:42:40.1780000Z</dcterms:modified>
</coreProperties>
</file>